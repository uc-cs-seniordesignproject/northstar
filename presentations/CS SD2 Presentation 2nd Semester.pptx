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</p:sldMasterIdLst>
  <p:notesMasterIdLst>
    <p:notesMasterId r:id="rId11"/>
  </p:notesMasterIdLst>
  <p:sldIdLst>
    <p:sldId id="257" r:id="rId5"/>
    <p:sldId id="260" r:id="rId6"/>
    <p:sldId id="261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B5194-8B7F-4917-B5EA-66B107BE2BD9}" v="94" dt="2026-01-21T20:38:08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839" autoAdjust="0"/>
  </p:normalViewPr>
  <p:slideViewPr>
    <p:cSldViewPr snapToGrid="0">
      <p:cViewPr varScale="1">
        <p:scale>
          <a:sx n="67" d="100"/>
          <a:sy n="67" d="100"/>
        </p:scale>
        <p:origin x="4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DAC021-5CC3-41D0-A638-6994D36C387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FA404C7-20D1-4A0B-B9C6-0872CB65437C}">
      <dgm:prSet custT="1"/>
      <dgm:spPr/>
      <dgm:t>
        <a:bodyPr/>
        <a:lstStyle/>
        <a:p>
          <a:pPr rtl="0"/>
          <a:r>
            <a:rPr lang="en-US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RAG Model</a:t>
          </a:r>
        </a:p>
      </dgm:t>
    </dgm:pt>
    <dgm:pt modelId="{D95BD35F-2EAA-463A-ADDC-67F1F58C31F4}" type="parTrans" cxnId="{539219F1-83C4-48AA-8236-9666B7DB7541}">
      <dgm:prSet/>
      <dgm:spPr/>
      <dgm:t>
        <a:bodyPr/>
        <a:lstStyle/>
        <a:p>
          <a:endParaRPr lang="en-US"/>
        </a:p>
      </dgm:t>
    </dgm:pt>
    <dgm:pt modelId="{53FECD35-54A1-4689-ACA1-B9819C845766}" type="sibTrans" cxnId="{539219F1-83C4-48AA-8236-9666B7DB7541}">
      <dgm:prSet/>
      <dgm:spPr/>
      <dgm:t>
        <a:bodyPr/>
        <a:lstStyle/>
        <a:p>
          <a:endParaRPr lang="en-US"/>
        </a:p>
      </dgm:t>
    </dgm:pt>
    <dgm:pt modelId="{EE88BEF3-6732-4982-85EE-BC0004D0EC25}">
      <dgm:prSet custT="1"/>
      <dgm:spPr/>
      <dgm:t>
        <a:bodyPr/>
        <a:lstStyle/>
        <a:p>
          <a:r>
            <a:rPr lang="en-US" sz="2800" dirty="0"/>
            <a:t>OCR Model</a:t>
          </a:r>
        </a:p>
      </dgm:t>
    </dgm:pt>
    <dgm:pt modelId="{6251F857-9BC6-42F4-B015-82E51CEE5A34}" type="parTrans" cxnId="{5C0BB9ED-C6E6-4DD8-A0A4-A4EA4E7F71FD}">
      <dgm:prSet/>
      <dgm:spPr/>
      <dgm:t>
        <a:bodyPr/>
        <a:lstStyle/>
        <a:p>
          <a:endParaRPr lang="en-US"/>
        </a:p>
      </dgm:t>
    </dgm:pt>
    <dgm:pt modelId="{C90D447A-FB41-4779-AEBE-0599EE685DCE}" type="sibTrans" cxnId="{5C0BB9ED-C6E6-4DD8-A0A4-A4EA4E7F71FD}">
      <dgm:prSet/>
      <dgm:spPr/>
      <dgm:t>
        <a:bodyPr/>
        <a:lstStyle/>
        <a:p>
          <a:endParaRPr lang="en-US"/>
        </a:p>
      </dgm:t>
    </dgm:pt>
    <dgm:pt modelId="{BD72F0FB-F1ED-4B93-B5B5-94DBA7492651}">
      <dgm:prSet custT="1"/>
      <dgm:spPr/>
      <dgm:t>
        <a:bodyPr/>
        <a:lstStyle/>
        <a:p>
          <a:r>
            <a:rPr lang="en-US" sz="2800" dirty="0"/>
            <a:t>Object Detection</a:t>
          </a:r>
        </a:p>
      </dgm:t>
    </dgm:pt>
    <dgm:pt modelId="{D226FF6A-162E-4A50-AE77-991182465729}" type="parTrans" cxnId="{38FFB89F-9CA1-42C1-8F15-8FB3B6D0AA84}">
      <dgm:prSet/>
      <dgm:spPr/>
      <dgm:t>
        <a:bodyPr/>
        <a:lstStyle/>
        <a:p>
          <a:endParaRPr lang="en-US"/>
        </a:p>
      </dgm:t>
    </dgm:pt>
    <dgm:pt modelId="{63684F4F-822A-48EC-A255-4545ED2057BE}" type="sibTrans" cxnId="{38FFB89F-9CA1-42C1-8F15-8FB3B6D0AA84}">
      <dgm:prSet/>
      <dgm:spPr/>
      <dgm:t>
        <a:bodyPr/>
        <a:lstStyle/>
        <a:p>
          <a:endParaRPr lang="en-US"/>
        </a:p>
      </dgm:t>
    </dgm:pt>
    <dgm:pt modelId="{E257E1C0-1C13-4212-9384-298421A48D1D}" type="pres">
      <dgm:prSet presAssocID="{31DAC021-5CC3-41D0-A638-6994D36C3874}" presName="vert0" presStyleCnt="0">
        <dgm:presLayoutVars>
          <dgm:dir/>
          <dgm:animOne val="branch"/>
          <dgm:animLvl val="lvl"/>
        </dgm:presLayoutVars>
      </dgm:prSet>
      <dgm:spPr/>
    </dgm:pt>
    <dgm:pt modelId="{C0F914E6-6F42-4742-B9D6-9025E620DCD0}" type="pres">
      <dgm:prSet presAssocID="{EE88BEF3-6732-4982-85EE-BC0004D0EC25}" presName="thickLine" presStyleLbl="alignNode1" presStyleIdx="0" presStyleCnt="3"/>
      <dgm:spPr/>
    </dgm:pt>
    <dgm:pt modelId="{AFFCB5E8-531B-48F1-BF60-0901BBB8684E}" type="pres">
      <dgm:prSet presAssocID="{EE88BEF3-6732-4982-85EE-BC0004D0EC25}" presName="horz1" presStyleCnt="0"/>
      <dgm:spPr/>
    </dgm:pt>
    <dgm:pt modelId="{FAFCB243-E831-4B17-A92F-3C76A397E6ED}" type="pres">
      <dgm:prSet presAssocID="{EE88BEF3-6732-4982-85EE-BC0004D0EC25}" presName="tx1" presStyleLbl="revTx" presStyleIdx="0" presStyleCnt="3"/>
      <dgm:spPr/>
    </dgm:pt>
    <dgm:pt modelId="{5C6B1019-4603-41C5-B545-89098CB2236D}" type="pres">
      <dgm:prSet presAssocID="{EE88BEF3-6732-4982-85EE-BC0004D0EC25}" presName="vert1" presStyleCnt="0"/>
      <dgm:spPr/>
    </dgm:pt>
    <dgm:pt modelId="{0C5E3062-3F91-45A1-A86D-97324204EFD3}" type="pres">
      <dgm:prSet presAssocID="{BD72F0FB-F1ED-4B93-B5B5-94DBA7492651}" presName="thickLine" presStyleLbl="alignNode1" presStyleIdx="1" presStyleCnt="3"/>
      <dgm:spPr/>
    </dgm:pt>
    <dgm:pt modelId="{20B43F84-12FF-40ED-8180-B4789FF46FA4}" type="pres">
      <dgm:prSet presAssocID="{BD72F0FB-F1ED-4B93-B5B5-94DBA7492651}" presName="horz1" presStyleCnt="0"/>
      <dgm:spPr/>
    </dgm:pt>
    <dgm:pt modelId="{6F624CA4-1E53-428D-B65D-109B5282BA42}" type="pres">
      <dgm:prSet presAssocID="{BD72F0FB-F1ED-4B93-B5B5-94DBA7492651}" presName="tx1" presStyleLbl="revTx" presStyleIdx="1" presStyleCnt="3"/>
      <dgm:spPr/>
    </dgm:pt>
    <dgm:pt modelId="{3EDB21A9-5778-4BBC-AE73-8A3977D980F7}" type="pres">
      <dgm:prSet presAssocID="{BD72F0FB-F1ED-4B93-B5B5-94DBA7492651}" presName="vert1" presStyleCnt="0"/>
      <dgm:spPr/>
    </dgm:pt>
    <dgm:pt modelId="{F3B815AC-5BD1-4178-B7B4-7B10D5ACB4F7}" type="pres">
      <dgm:prSet presAssocID="{0FA404C7-20D1-4A0B-B9C6-0872CB65437C}" presName="thickLine" presStyleLbl="alignNode1" presStyleIdx="2" presStyleCnt="3"/>
      <dgm:spPr/>
    </dgm:pt>
    <dgm:pt modelId="{044ED42F-456D-4B43-AB87-FAF7CBA74D7A}" type="pres">
      <dgm:prSet presAssocID="{0FA404C7-20D1-4A0B-B9C6-0872CB65437C}" presName="horz1" presStyleCnt="0"/>
      <dgm:spPr/>
    </dgm:pt>
    <dgm:pt modelId="{0503E871-1684-4E9C-8002-C4089B2ECD79}" type="pres">
      <dgm:prSet presAssocID="{0FA404C7-20D1-4A0B-B9C6-0872CB65437C}" presName="tx1" presStyleLbl="revTx" presStyleIdx="2" presStyleCnt="3"/>
      <dgm:spPr/>
    </dgm:pt>
    <dgm:pt modelId="{191668D0-2FE1-4D4C-B6EF-A4203DFF2076}" type="pres">
      <dgm:prSet presAssocID="{0FA404C7-20D1-4A0B-B9C6-0872CB65437C}" presName="vert1" presStyleCnt="0"/>
      <dgm:spPr/>
    </dgm:pt>
  </dgm:ptLst>
  <dgm:cxnLst>
    <dgm:cxn modelId="{1E78830D-092F-4F1D-9CBC-2DC262AE0E9F}" type="presOf" srcId="{31DAC021-5CC3-41D0-A638-6994D36C3874}" destId="{E257E1C0-1C13-4212-9384-298421A48D1D}" srcOrd="0" destOrd="0" presId="urn:microsoft.com/office/officeart/2008/layout/LinedList"/>
    <dgm:cxn modelId="{2793292D-72F3-4CF5-A666-65162164211D}" type="presOf" srcId="{EE88BEF3-6732-4982-85EE-BC0004D0EC25}" destId="{FAFCB243-E831-4B17-A92F-3C76A397E6ED}" srcOrd="0" destOrd="0" presId="urn:microsoft.com/office/officeart/2008/layout/LinedList"/>
    <dgm:cxn modelId="{31998D31-F0F5-4DFC-B5B9-3669C1D13881}" type="presOf" srcId="{BD72F0FB-F1ED-4B93-B5B5-94DBA7492651}" destId="{6F624CA4-1E53-428D-B65D-109B5282BA42}" srcOrd="0" destOrd="0" presId="urn:microsoft.com/office/officeart/2008/layout/LinedList"/>
    <dgm:cxn modelId="{26462B55-CD4A-456C-B5BB-647C8FDD863D}" type="presOf" srcId="{0FA404C7-20D1-4A0B-B9C6-0872CB65437C}" destId="{0503E871-1684-4E9C-8002-C4089B2ECD79}" srcOrd="0" destOrd="0" presId="urn:microsoft.com/office/officeart/2008/layout/LinedList"/>
    <dgm:cxn modelId="{38FFB89F-9CA1-42C1-8F15-8FB3B6D0AA84}" srcId="{31DAC021-5CC3-41D0-A638-6994D36C3874}" destId="{BD72F0FB-F1ED-4B93-B5B5-94DBA7492651}" srcOrd="1" destOrd="0" parTransId="{D226FF6A-162E-4A50-AE77-991182465729}" sibTransId="{63684F4F-822A-48EC-A255-4545ED2057BE}"/>
    <dgm:cxn modelId="{5C0BB9ED-C6E6-4DD8-A0A4-A4EA4E7F71FD}" srcId="{31DAC021-5CC3-41D0-A638-6994D36C3874}" destId="{EE88BEF3-6732-4982-85EE-BC0004D0EC25}" srcOrd="0" destOrd="0" parTransId="{6251F857-9BC6-42F4-B015-82E51CEE5A34}" sibTransId="{C90D447A-FB41-4779-AEBE-0599EE685DCE}"/>
    <dgm:cxn modelId="{539219F1-83C4-48AA-8236-9666B7DB7541}" srcId="{31DAC021-5CC3-41D0-A638-6994D36C3874}" destId="{0FA404C7-20D1-4A0B-B9C6-0872CB65437C}" srcOrd="2" destOrd="0" parTransId="{D95BD35F-2EAA-463A-ADDC-67F1F58C31F4}" sibTransId="{53FECD35-54A1-4689-ACA1-B9819C845766}"/>
    <dgm:cxn modelId="{0D743414-74DA-484F-B9AA-187A1C65BDE1}" type="presParOf" srcId="{E257E1C0-1C13-4212-9384-298421A48D1D}" destId="{C0F914E6-6F42-4742-B9D6-9025E620DCD0}" srcOrd="0" destOrd="0" presId="urn:microsoft.com/office/officeart/2008/layout/LinedList"/>
    <dgm:cxn modelId="{AF9706E3-9895-48FD-A9E2-F40F6C2FA8AA}" type="presParOf" srcId="{E257E1C0-1C13-4212-9384-298421A48D1D}" destId="{AFFCB5E8-531B-48F1-BF60-0901BBB8684E}" srcOrd="1" destOrd="0" presId="urn:microsoft.com/office/officeart/2008/layout/LinedList"/>
    <dgm:cxn modelId="{4674DAF3-EDC4-4AE7-A5E9-3729FBD8D4C0}" type="presParOf" srcId="{AFFCB5E8-531B-48F1-BF60-0901BBB8684E}" destId="{FAFCB243-E831-4B17-A92F-3C76A397E6ED}" srcOrd="0" destOrd="0" presId="urn:microsoft.com/office/officeart/2008/layout/LinedList"/>
    <dgm:cxn modelId="{62F0B37A-971A-4C35-A205-45C416C1084D}" type="presParOf" srcId="{AFFCB5E8-531B-48F1-BF60-0901BBB8684E}" destId="{5C6B1019-4603-41C5-B545-89098CB2236D}" srcOrd="1" destOrd="0" presId="urn:microsoft.com/office/officeart/2008/layout/LinedList"/>
    <dgm:cxn modelId="{09B2602A-CA49-4C58-9990-A98FA878647E}" type="presParOf" srcId="{E257E1C0-1C13-4212-9384-298421A48D1D}" destId="{0C5E3062-3F91-45A1-A86D-97324204EFD3}" srcOrd="2" destOrd="0" presId="urn:microsoft.com/office/officeart/2008/layout/LinedList"/>
    <dgm:cxn modelId="{2FDCC224-EEF4-4709-837D-692123795F8B}" type="presParOf" srcId="{E257E1C0-1C13-4212-9384-298421A48D1D}" destId="{20B43F84-12FF-40ED-8180-B4789FF46FA4}" srcOrd="3" destOrd="0" presId="urn:microsoft.com/office/officeart/2008/layout/LinedList"/>
    <dgm:cxn modelId="{D1E7F20D-A1CD-4FCF-A7CF-957ACC92611A}" type="presParOf" srcId="{20B43F84-12FF-40ED-8180-B4789FF46FA4}" destId="{6F624CA4-1E53-428D-B65D-109B5282BA42}" srcOrd="0" destOrd="0" presId="urn:microsoft.com/office/officeart/2008/layout/LinedList"/>
    <dgm:cxn modelId="{A0D0B802-4CA0-4D3C-88A1-39C580E0291F}" type="presParOf" srcId="{20B43F84-12FF-40ED-8180-B4789FF46FA4}" destId="{3EDB21A9-5778-4BBC-AE73-8A3977D980F7}" srcOrd="1" destOrd="0" presId="urn:microsoft.com/office/officeart/2008/layout/LinedList"/>
    <dgm:cxn modelId="{AAA085E1-E1C8-4D11-9DF5-C614AF4110C8}" type="presParOf" srcId="{E257E1C0-1C13-4212-9384-298421A48D1D}" destId="{F3B815AC-5BD1-4178-B7B4-7B10D5ACB4F7}" srcOrd="4" destOrd="0" presId="urn:microsoft.com/office/officeart/2008/layout/LinedList"/>
    <dgm:cxn modelId="{A57E3B33-A9D4-4A04-83FF-7E23030DB110}" type="presParOf" srcId="{E257E1C0-1C13-4212-9384-298421A48D1D}" destId="{044ED42F-456D-4B43-AB87-FAF7CBA74D7A}" srcOrd="5" destOrd="0" presId="urn:microsoft.com/office/officeart/2008/layout/LinedList"/>
    <dgm:cxn modelId="{5AF29086-6097-4DB8-A547-3C02DD071148}" type="presParOf" srcId="{044ED42F-456D-4B43-AB87-FAF7CBA74D7A}" destId="{0503E871-1684-4E9C-8002-C4089B2ECD79}" srcOrd="0" destOrd="0" presId="urn:microsoft.com/office/officeart/2008/layout/LinedList"/>
    <dgm:cxn modelId="{BF3BFB7F-6826-49D1-A910-73C2BC559A7A}" type="presParOf" srcId="{044ED42F-456D-4B43-AB87-FAF7CBA74D7A}" destId="{191668D0-2FE1-4D4C-B6EF-A4203DFF20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914E6-6F42-4742-B9D6-9025E620DCD0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CB243-E831-4B17-A92F-3C76A397E6ED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OCR Model</a:t>
          </a:r>
        </a:p>
      </dsp:txBody>
      <dsp:txXfrm>
        <a:off x="0" y="2703"/>
        <a:ext cx="6900512" cy="1843578"/>
      </dsp:txXfrm>
    </dsp:sp>
    <dsp:sp modelId="{0C5E3062-3F91-45A1-A86D-97324204EFD3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24CA4-1E53-428D-B65D-109B5282BA42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Object Detection</a:t>
          </a:r>
        </a:p>
      </dsp:txBody>
      <dsp:txXfrm>
        <a:off x="0" y="1846281"/>
        <a:ext cx="6900512" cy="1843578"/>
      </dsp:txXfrm>
    </dsp:sp>
    <dsp:sp modelId="{F3B815AC-5BD1-4178-B7B4-7B10D5ACB4F7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3E871-1684-4E9C-8002-C4089B2ECD79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RAG Model</a:t>
          </a:r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E61FB-73CD-4E90-92F8-2A181A8F6B93}" type="datetimeFigureOut"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B7E23-D4CE-47BA-8098-4FFA89AB36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2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afternoon, everyone. We are excited to present </a:t>
            </a:r>
            <a:r>
              <a:rPr lang="en-US" b="1" dirty="0"/>
              <a:t>NorthStar</a:t>
            </a:r>
            <a:r>
              <a:rPr lang="en-US" dirty="0"/>
              <a:t>, our Senior Design project.</a:t>
            </a:r>
          </a:p>
          <a:p>
            <a:endParaRPr lang="en-US" dirty="0"/>
          </a:p>
          <a:p>
            <a:r>
              <a:rPr lang="en-US" dirty="0"/>
              <a:t>NorthStar is a </a:t>
            </a:r>
            <a:r>
              <a:rPr lang="en-US" b="1" dirty="0"/>
              <a:t>head-mounted visual assist system</a:t>
            </a:r>
            <a:r>
              <a:rPr lang="en-US" dirty="0"/>
              <a:t> specifically designed to empower individuals with visual impairments. Our primary objective is to bridge the gap between technology and accessibility by providing a tool that helps users navigate their physical environments with greater ease, safety, and confidence.</a:t>
            </a:r>
          </a:p>
          <a:p>
            <a:endParaRPr lang="en-US" dirty="0"/>
          </a:p>
          <a:p>
            <a:r>
              <a:rPr lang="en-US" dirty="0"/>
              <a:t>Today, we will take you through our project milestones, the design architecture we’ve developed, and the progress we’ve made in bringing this assistive technology to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B7E23-D4CE-47BA-8098-4FFA89AB36ED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5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high-level abstract of our system. As mentioned, NorthStar is a head-mounted unit designed to serve as a comprehensive visual assistant.</a:t>
            </a:r>
          </a:p>
          <a:p>
            <a:r>
              <a:rPr lang="en-US" dirty="0"/>
              <a:t>The system works by capturing real-time environmental data using integrated cameras and sensors. We leverage AI-based object detection and computer vision to process this visual input as the user moves through their environment.</a:t>
            </a:r>
          </a:p>
          <a:p>
            <a:endParaRPr lang="en-US" dirty="0"/>
          </a:p>
          <a:p>
            <a:r>
              <a:rPr lang="en-US" dirty="0"/>
              <a:t>This raw data is then cross-referenced with a trained database to extract contextual meaning. The system translates this information into personalized audio feedback via a text-to-speech module, effectively alerting the user to hazards or important details in their vicinity.</a:t>
            </a:r>
          </a:p>
          <a:p>
            <a:endParaRPr lang="en-US" dirty="0"/>
          </a:p>
          <a:p>
            <a:r>
              <a:rPr lang="en-US" dirty="0"/>
              <a:t>In summary, by synthesizing AI, computer vision, and assistive audio, NorthStar transforms complex visual information into clear auditory cues, enabling users to navigate their surroundings with significantly increased safety and independence.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B7E23-D4CE-47BA-8098-4FFA89AB36ED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89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team dedicated to bringing NorthStar to reality consists of four members.</a:t>
            </a:r>
          </a:p>
          <a:p>
            <a:endParaRPr lang="en-US" dirty="0"/>
          </a:p>
          <a:p>
            <a:r>
              <a:rPr lang="en-US" dirty="0"/>
              <a:t>I am Christian Graber, and I am joined by my colleagues Mohamed </a:t>
            </a:r>
            <a:r>
              <a:rPr lang="en-US" dirty="0" err="1"/>
              <a:t>Elmogaber</a:t>
            </a:r>
            <a:r>
              <a:rPr lang="en-US" dirty="0"/>
              <a:t>, Jared Walden, and Viet Ton.</a:t>
            </a:r>
          </a:p>
          <a:p>
            <a:endParaRPr lang="en-US" dirty="0"/>
          </a:p>
          <a:p>
            <a:r>
              <a:rPr lang="en-US" dirty="0"/>
              <a:t>We are also privileged to be working under the guidance of our faculty advisor, Professor Badri </a:t>
            </a:r>
            <a:r>
              <a:rPr lang="en-US" dirty="0" err="1"/>
              <a:t>Vellambi</a:t>
            </a:r>
            <a:r>
              <a:rPr lang="en-US" dirty="0"/>
              <a:t>, whose support has been instrumental in the development of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B7E23-D4CE-47BA-8098-4FFA89AB36ED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26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B7E23-D4CE-47BA-8098-4FFA89AB36ED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59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on to our current status, we have made significant strides in laying the groundwork for NorthStar.</a:t>
            </a:r>
          </a:p>
          <a:p>
            <a:endParaRPr lang="en-US" dirty="0"/>
          </a:p>
          <a:p>
            <a:r>
              <a:rPr lang="en-US" dirty="0"/>
              <a:t>First, we have formally </a:t>
            </a:r>
            <a:r>
              <a:rPr lang="en-US" b="1" dirty="0"/>
              <a:t>defined our project proposals and goals</a:t>
            </a:r>
            <a:r>
              <a:rPr lang="en-US" dirty="0"/>
              <a:t>. This step was critical to ensure the entire team is aligned on the scope of the project and the specific accessibility problems we aim to solve.</a:t>
            </a:r>
          </a:p>
          <a:p>
            <a:endParaRPr lang="en-US" dirty="0"/>
          </a:p>
          <a:p>
            <a:r>
              <a:rPr lang="en-US" dirty="0"/>
              <a:t>Second, we have completed </a:t>
            </a:r>
            <a:r>
              <a:rPr lang="en-US" b="1" dirty="0"/>
              <a:t>in-depth research</a:t>
            </a:r>
            <a:r>
              <a:rPr lang="en-US" dirty="0"/>
              <a:t> for our respective responsibilities. Each team member has deep-dived into their specific technical domain—whether that is computer vision, audio processing, or hardware integration—to validate that our design choices are feasible.</a:t>
            </a:r>
          </a:p>
          <a:p>
            <a:endParaRPr lang="en-US" dirty="0"/>
          </a:p>
          <a:p>
            <a:r>
              <a:rPr lang="en-US" dirty="0"/>
              <a:t>Finally, we have transitioned from research to logistics. We have created a comprehensive </a:t>
            </a:r>
            <a:r>
              <a:rPr lang="en-US" b="1" dirty="0"/>
              <a:t>list of tools and hardware</a:t>
            </a:r>
            <a:r>
              <a:rPr lang="en-US" dirty="0"/>
              <a:t> required for the build. Our Bill of Materials is finalized, positioning us to begin the procurement and prototyping phase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B7E23-D4CE-47BA-8098-4FFA89AB36ED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31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7988-81DA-9139-E8A4-9E087A38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C5AC2-3796-3FE3-B265-85A3360EF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5BB4F-A5F7-524C-AD72-8F00BCCCD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8958F-7A21-EFA7-6534-68182CAB0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B7E23-D4CE-47BA-8098-4FFA89AB36ED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4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4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62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7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0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42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6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22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50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0545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22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81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62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79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820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  <p:sldLayoutId id="2147483953" r:id="rId14"/>
    <p:sldLayoutId id="2147483954" r:id="rId15"/>
    <p:sldLayoutId id="2147483955" r:id="rId16"/>
    <p:sldLayoutId id="214748395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9C4A-3404-53AE-92BE-66E12151A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00" y="2175948"/>
            <a:ext cx="3953085" cy="1253052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2"/>
                </a:solidFill>
                <a:ea typeface="+mj-lt"/>
                <a:cs typeface="+mj-lt"/>
              </a:rPr>
              <a:t>NorthSt</a:t>
            </a:r>
            <a:r>
              <a:rPr lang="en-US" sz="5400" b="1" dirty="0">
                <a:ea typeface="+mj-lt"/>
                <a:cs typeface="+mj-lt"/>
              </a:rPr>
              <a:t>a</a:t>
            </a:r>
            <a:r>
              <a:rPr lang="en-US" sz="5400" b="1" dirty="0">
                <a:solidFill>
                  <a:schemeClr val="tx2"/>
                </a:solidFill>
                <a:ea typeface="+mj-lt"/>
                <a:cs typeface="+mj-lt"/>
              </a:rPr>
              <a:t>r</a:t>
            </a:r>
            <a:endParaRPr lang="en-US" sz="54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5646-0A4F-A1E7-C1C3-50A5BD0D8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ea typeface="+mn-lt"/>
                <a:cs typeface="+mn-lt"/>
              </a:rPr>
              <a:t>Project Purpose: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A head mounted visual assist system for the visually impaired.</a:t>
            </a:r>
          </a:p>
          <a:p>
            <a:pPr marL="0" indent="0">
              <a:buNone/>
            </a:pPr>
            <a:endParaRPr lang="en-US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Goals: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To assist the visually impaired in navigating the real world in an easier and more comfortable manner.</a:t>
            </a:r>
          </a:p>
          <a:p>
            <a:pPr marL="0" indent="0">
              <a:buNone/>
            </a:pP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4847C6-96F3-6911-5CE0-020F5A1C10A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394253" y="2802474"/>
            <a:ext cx="2977978" cy="2977978"/>
          </a:xfrm>
          <a:prstGeom prst="rect">
            <a:avLst/>
          </a:prstGeom>
          <a:effectLst>
            <a:glow rad="736600">
              <a:srgbClr val="0070C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42290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85"/>
    </mc:Choice>
    <mc:Fallback xmlns="">
      <p:transition spd="slow" advTm="2318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9794-9724-598C-6426-4033C32B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Project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B1F6C-F1B3-D013-DCF9-DE3DD743D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360"/>
            <a:ext cx="555848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A head-mounted visual assist system designed to support visually impaired users. </a:t>
            </a:r>
          </a:p>
          <a:p>
            <a:r>
              <a:rPr lang="en-US" dirty="0">
                <a:ea typeface="+mn-lt"/>
                <a:cs typeface="+mn-lt"/>
              </a:rPr>
              <a:t>Captures environmental data through vision and AI-based object detection and recognition features. </a:t>
            </a:r>
          </a:p>
          <a:p>
            <a:r>
              <a:rPr lang="en-US" dirty="0">
                <a:ea typeface="+mn-lt"/>
                <a:cs typeface="+mn-lt"/>
              </a:rPr>
              <a:t>Retrieves context from a trained database of objects and user related data, generating personalized audio feedback through a text-to-speech module. </a:t>
            </a:r>
          </a:p>
          <a:p>
            <a:r>
              <a:rPr lang="en-US" dirty="0">
                <a:ea typeface="+mn-lt"/>
                <a:cs typeface="+mn-lt"/>
              </a:rPr>
              <a:t>Northstar transforms visual information into auditory cues, empowering users to navigate and interact more safely and independently within their surroundings.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FE124-CDA6-5C02-E6E3-E1F223DED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618" y="1972273"/>
            <a:ext cx="4370182" cy="291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1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889"/>
    </mc:Choice>
    <mc:Fallback xmlns="">
      <p:transition spd="slow" advTm="568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9E82-B07D-766D-938A-33ED972CD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Team members and advisor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73937-00B0-3B9F-C556-FE03C1CCA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083" y="1974716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Christian Graber</a:t>
            </a:r>
          </a:p>
          <a:p>
            <a:r>
              <a:rPr lang="en-US" sz="2000" dirty="0"/>
              <a:t>Mohamed </a:t>
            </a:r>
            <a:r>
              <a:rPr lang="en-US" sz="2000" dirty="0" err="1"/>
              <a:t>Elmogaber</a:t>
            </a:r>
            <a:endParaRPr lang="en-US" sz="2000" dirty="0"/>
          </a:p>
          <a:p>
            <a:r>
              <a:rPr lang="en-US" sz="2000" dirty="0"/>
              <a:t>Jared Walden</a:t>
            </a:r>
          </a:p>
          <a:p>
            <a:r>
              <a:rPr lang="en-US" sz="2000" dirty="0"/>
              <a:t>Viet Ton</a:t>
            </a:r>
          </a:p>
          <a:p>
            <a:r>
              <a:rPr lang="en-US" sz="2000" dirty="0"/>
              <a:t>Badri </a:t>
            </a:r>
            <a:r>
              <a:rPr lang="en-US" sz="2000" dirty="0" err="1"/>
              <a:t>Vellambi</a:t>
            </a:r>
            <a:r>
              <a:rPr lang="en-US" sz="2000" dirty="0"/>
              <a:t> (Advisor)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312E7C-0782-910C-67E2-8D213FBC5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992" y="1943598"/>
            <a:ext cx="4456205" cy="297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1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22"/>
    </mc:Choice>
    <mc:Fallback xmlns="">
      <p:transition spd="slow" advTm="160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CFA4-8320-8842-F8EA-F1DE46D96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438891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Project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5C2A7-26A1-777E-4A93-2CBB08EA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715242"/>
            <a:ext cx="9833548" cy="54492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lnSpc>
                <a:spcPct val="120000"/>
              </a:lnSpc>
            </a:pPr>
            <a:r>
              <a:rPr lang="en-US" sz="2400" b="1" dirty="0">
                <a:solidFill>
                  <a:schemeClr val="tx2"/>
                </a:solidFill>
                <a:latin typeface="Lato"/>
                <a:ea typeface="Lato"/>
                <a:cs typeface="Lato"/>
              </a:rPr>
              <a:t>Economic Factors</a:t>
            </a:r>
            <a:endParaRPr lang="en-US" sz="2400" dirty="0">
              <a:solidFill>
                <a:schemeClr val="tx2"/>
              </a:solidFill>
              <a:latin typeface="Lato"/>
              <a:ea typeface="Lato"/>
              <a:cs typeface="Lato"/>
            </a:endParaRPr>
          </a:p>
          <a:p>
            <a:pPr marL="662850" lvl="1" indent="-285750"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  <a:latin typeface="Lato"/>
                <a:ea typeface="Lato"/>
                <a:cs typeface="Lato"/>
              </a:rPr>
              <a:t>Relies on affordable hardware like a Raspberry Pi and open-source software. </a:t>
            </a:r>
          </a:p>
          <a:p>
            <a:pPr marL="285750" indent="-285750">
              <a:lnSpc>
                <a:spcPct val="120000"/>
              </a:lnSpc>
            </a:pPr>
            <a:r>
              <a:rPr lang="en-US" sz="2400" b="1" dirty="0">
                <a:solidFill>
                  <a:schemeClr val="tx2"/>
                </a:solidFill>
                <a:latin typeface="Lato"/>
                <a:ea typeface="Lato"/>
                <a:cs typeface="Lato"/>
              </a:rPr>
              <a:t>Ethical and Security Constraints</a:t>
            </a:r>
            <a:endParaRPr lang="en-US" sz="2400" dirty="0">
              <a:solidFill>
                <a:schemeClr val="tx2"/>
              </a:solidFill>
              <a:latin typeface="Lato"/>
              <a:ea typeface="Lato"/>
              <a:cs typeface="Lato"/>
            </a:endParaRPr>
          </a:p>
          <a:p>
            <a:pPr marL="662850" lvl="1" indent="-285750"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  <a:latin typeface="Lato"/>
                <a:ea typeface="Lato"/>
                <a:cs typeface="Lato"/>
              </a:rPr>
              <a:t>Ensure user privacy by using secure standards.</a:t>
            </a:r>
          </a:p>
          <a:p>
            <a:pPr marL="285750" indent="-285750">
              <a:lnSpc>
                <a:spcPct val="120000"/>
              </a:lnSpc>
            </a:pPr>
            <a:r>
              <a:rPr lang="en-US" sz="2400" b="1" dirty="0">
                <a:solidFill>
                  <a:schemeClr val="tx2"/>
                </a:solidFill>
                <a:latin typeface="Lato"/>
                <a:ea typeface="Lato"/>
                <a:cs typeface="Lato"/>
              </a:rPr>
              <a:t>Technical Complexity</a:t>
            </a:r>
            <a:endParaRPr lang="en-US" sz="2400" dirty="0">
              <a:solidFill>
                <a:schemeClr val="tx2"/>
              </a:solidFill>
              <a:latin typeface="Lato"/>
              <a:ea typeface="Lato"/>
              <a:cs typeface="Lato"/>
            </a:endParaRPr>
          </a:p>
          <a:p>
            <a:pPr marL="662850" lvl="1" indent="-285750"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  <a:latin typeface="Lato"/>
                <a:ea typeface="Lato"/>
                <a:cs typeface="Lato"/>
              </a:rPr>
              <a:t>The latency of this integrated system is a critical factor.</a:t>
            </a:r>
          </a:p>
          <a:p>
            <a:pPr marL="0" indent="0">
              <a:lnSpc>
                <a:spcPct val="120000"/>
              </a:lnSpc>
              <a:buNone/>
            </a:pPr>
            <a:br>
              <a:rPr lang="en-US" sz="2400" dirty="0"/>
            </a:br>
            <a:endParaRPr lang="en-US" sz="2400" dirty="0">
              <a:solidFill>
                <a:schemeClr val="tx2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5639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908"/>
    </mc:Choice>
    <mc:Fallback xmlns="">
      <p:transition spd="slow" advTm="11390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FBD53-60F0-5344-EE2B-C94B75C8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Review of Project Progress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7BBBFB-897B-AA68-6A3A-56BB295B58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12610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365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38"/>
    </mc:Choice>
    <mc:Fallback xmlns="">
      <p:transition spd="slow" advTm="4223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0183A-F13D-0937-9669-4BE115457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7B79-C0CC-38A8-7013-CD7C9F9A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456" y="2790825"/>
            <a:ext cx="3953085" cy="39624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2"/>
                </a:solidFill>
                <a:ea typeface="+mj-lt"/>
                <a:cs typeface="+mj-lt"/>
              </a:rPr>
              <a:t>Thank You!</a:t>
            </a:r>
            <a:endParaRPr lang="en-US" sz="5400" b="1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98F4F-CFF9-00B4-C7FC-D64903C14B7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607009" y="1301836"/>
            <a:ext cx="2977978" cy="2977978"/>
          </a:xfrm>
          <a:prstGeom prst="rect">
            <a:avLst/>
          </a:prstGeom>
          <a:effectLst>
            <a:glow rad="736600">
              <a:srgbClr val="0070C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283512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85"/>
    </mc:Choice>
    <mc:Fallback xmlns="">
      <p:transition spd="slow" advTm="23185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F1D3EE339ABF46BE5E91DC70D33751" ma:contentTypeVersion="14" ma:contentTypeDescription="Create a new document." ma:contentTypeScope="" ma:versionID="feeed82544276ba02accadc45c0c3b00">
  <xsd:schema xmlns:xsd="http://www.w3.org/2001/XMLSchema" xmlns:xs="http://www.w3.org/2001/XMLSchema" xmlns:p="http://schemas.microsoft.com/office/2006/metadata/properties" xmlns:ns3="e9590cf6-1742-4fac-a95f-44ed4644130c" xmlns:ns4="4693b0bf-29d7-431d-add9-b6607916cf61" targetNamespace="http://schemas.microsoft.com/office/2006/metadata/properties" ma:root="true" ma:fieldsID="2956717a0660d240219d47558994ffc0" ns3:_="" ns4:_="">
    <xsd:import namespace="e9590cf6-1742-4fac-a95f-44ed4644130c"/>
    <xsd:import namespace="4693b0bf-29d7-431d-add9-b6607916cf6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590cf6-1742-4fac-a95f-44ed464413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3b0bf-29d7-431d-add9-b6607916cf6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9590cf6-1742-4fac-a95f-44ed4644130c" xsi:nil="true"/>
  </documentManagement>
</p:properties>
</file>

<file path=customXml/itemProps1.xml><?xml version="1.0" encoding="utf-8"?>
<ds:datastoreItem xmlns:ds="http://schemas.openxmlformats.org/officeDocument/2006/customXml" ds:itemID="{747659A9-533B-4228-BD2A-D2A302603C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590cf6-1742-4fac-a95f-44ed4644130c"/>
    <ds:schemaRef ds:uri="4693b0bf-29d7-431d-add9-b6607916cf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C2CE6D-28C0-4C3B-B8FA-208DA74B41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0198F8-621A-4298-A920-AB04E7B147F9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4693b0bf-29d7-431d-add9-b6607916cf61"/>
    <ds:schemaRef ds:uri="e9590cf6-1742-4fac-a95f-44ed4644130c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124</TotalTime>
  <Words>634</Words>
  <Application>Microsoft Office PowerPoint</Application>
  <PresentationFormat>Widescreen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Calisto MT</vt:lpstr>
      <vt:lpstr>Lato</vt:lpstr>
      <vt:lpstr>Wingdings 2</vt:lpstr>
      <vt:lpstr>Slate</vt:lpstr>
      <vt:lpstr>NorthStar</vt:lpstr>
      <vt:lpstr>Project Abstract</vt:lpstr>
      <vt:lpstr>Team members and advisor</vt:lpstr>
      <vt:lpstr>Project Constraints</vt:lpstr>
      <vt:lpstr>Review of Project Progress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Chrismslist Grayish</dc:creator>
  <cp:lastModifiedBy>Graber, Christian (grabercn)</cp:lastModifiedBy>
  <cp:revision>5</cp:revision>
  <dcterms:created xsi:type="dcterms:W3CDTF">2025-10-27T19:38:11Z</dcterms:created>
  <dcterms:modified xsi:type="dcterms:W3CDTF">2026-04-09T20:47:05Z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0x010100E5F1D3EE339ABF46BE5E91DC70D33751</vt:lpwstr>
  </property>
</Properties>
</file>